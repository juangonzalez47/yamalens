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7102475" cy="102330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jjY1qE25awvJeNglqm5z4jndqr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s-CO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e7f6e5453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1e7f6e54539_1_0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e7f6e54539_1_0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cxnSp>
        <p:nvCxnSpPr>
          <p:cNvPr id="21" name="Google Shape;21;p12"/>
          <p:cNvCxnSpPr/>
          <p:nvPr/>
        </p:nvCxnSpPr>
        <p:spPr>
          <a:xfrm>
            <a:off x="539552" y="6237312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2"/>
          <p:cNvCxnSpPr/>
          <p:nvPr/>
        </p:nvCxnSpPr>
        <p:spPr>
          <a:xfrm>
            <a:off x="539552" y="980728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cxnSp>
        <p:nvCxnSpPr>
          <p:cNvPr id="29" name="Google Shape;29;p13"/>
          <p:cNvCxnSpPr/>
          <p:nvPr/>
        </p:nvCxnSpPr>
        <p:spPr>
          <a:xfrm>
            <a:off x="467544" y="1484784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13"/>
          <p:cNvCxnSpPr/>
          <p:nvPr/>
        </p:nvCxnSpPr>
        <p:spPr>
          <a:xfrm>
            <a:off x="467544" y="6237312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an.gonzalez57@udea.edu.c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juan.balvin1@udea.edu.co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boflow/rf-det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boflow/rf-detr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oogle.com/spreadsheets/u/1/d/1fEJsDyySfmsJx8QFo4jhOdUpCtAS4GOd/edit?gid=2130384647#gid=2130384647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645840" y="980728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s-CO" sz="4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YamaLens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subTitle" idx="1"/>
          </p:nvPr>
        </p:nvSpPr>
        <p:spPr>
          <a:xfrm>
            <a:off x="971600" y="2276872"/>
            <a:ext cx="730485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FACULTAD DE INGENIERÍA</a:t>
            </a:r>
            <a:endParaRPr dirty="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UNIVERSIDAD DE ANTIOQUIA</a:t>
            </a:r>
            <a:endParaRPr dirty="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Departamento de Electrónica y Telecomunicaciones</a:t>
            </a:r>
            <a:endParaRPr sz="217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endParaRPr dirty="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Semestre </a:t>
            </a:r>
            <a:r>
              <a:rPr lang="es-CO" sz="2170" dirty="0"/>
              <a:t>2025-2</a:t>
            </a:r>
            <a:endParaRPr sz="217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rgbClr val="888888"/>
              </a:buClr>
              <a:buSzPts val="2480"/>
              <a:buFont typeface="Arial"/>
              <a:buNone/>
            </a:pPr>
            <a:endParaRPr sz="248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331640" y="420927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r>
              <a:rPr lang="es-CO" sz="24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Juan Pablo González Blandón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r>
              <a:rPr lang="es-CO" sz="24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Juan José Balvin Torres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r>
              <a:rPr lang="es-CO" sz="24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Juan.gonzalez57@udea.edu.co</a:t>
            </a:r>
            <a:endParaRPr lang="es-CO" sz="24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r>
              <a:rPr lang="es-CO" sz="24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juan.balvin1@udea.edu.co</a:t>
            </a:r>
            <a:endParaRPr lang="es-CO" sz="24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/>
        </p:nvSpPr>
        <p:spPr>
          <a:xfrm>
            <a:off x="609600" y="4270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Problema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19634" y="2324426"/>
            <a:ext cx="8609531" cy="220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Garantizar el control y trazabilidad del número de piezas de motocicletas que ingresan al área de pintura, evitando pérdidas o errores de conteo manual.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un sistema de visión artificial que detecte, identifique y cuente automáticamente las piezas en movimiento dentro de la línea de producción Yamaha.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Título de las tres referencias de antecedentes en trabajos similares </a:t>
            </a:r>
            <a:endParaRPr lang="es-E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0150" lvl="2" indent="-285750"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“RF-DETR: Object Detection with Transformers (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Roboflow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2024) ”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https://github.com/roboflow/rf-detr</a:t>
            </a: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00150" lvl="2" indent="-285750"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dirty="0"/>
              <a:t>“YOLOv8: Real-Time Object Detection System” (</a:t>
            </a:r>
            <a:r>
              <a:rPr lang="en-US" sz="1800" dirty="0" err="1"/>
              <a:t>Ultralytics</a:t>
            </a:r>
            <a:r>
              <a:rPr lang="en-US" sz="1800" dirty="0"/>
              <a:t>, 2023)</a:t>
            </a:r>
          </a:p>
          <a:p>
            <a:pPr marL="1200150" lvl="2" indent="-285750"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dirty="0"/>
              <a:t> </a:t>
            </a:r>
            <a:r>
              <a:rPr lang="es-ES" sz="1800" dirty="0" err="1"/>
              <a:t>Roboflow</a:t>
            </a:r>
            <a:r>
              <a:rPr lang="es-ES" sz="1800" dirty="0"/>
              <a:t> </a:t>
            </a:r>
            <a:r>
              <a:rPr lang="es-ES" sz="1800" dirty="0" err="1"/>
              <a:t>Annotate</a:t>
            </a:r>
            <a:r>
              <a:rPr lang="es-ES" sz="1800" dirty="0"/>
              <a:t>: Plataforma para creación y gestión de </a:t>
            </a:r>
            <a:r>
              <a:rPr lang="es-ES" sz="1800" dirty="0" err="1"/>
              <a:t>datasets</a:t>
            </a:r>
            <a:r>
              <a:rPr lang="es-ES" sz="1800" dirty="0"/>
              <a:t>” (</a:t>
            </a:r>
            <a:r>
              <a:rPr lang="es-ES" sz="1800" dirty="0" err="1"/>
              <a:t>Roboflow</a:t>
            </a:r>
            <a:r>
              <a:rPr lang="es-ES" sz="1800" dirty="0"/>
              <a:t>, 2024)</a:t>
            </a:r>
            <a:endParaRPr lang="es-E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2">
              <a:buClr>
                <a:schemeClr val="dk1"/>
              </a:buClr>
              <a:buSzPts val="1800"/>
            </a:pPr>
            <a:endParaRPr lang="es-E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395536" y="33265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 Hardware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2068825" y="6389375"/>
            <a:ext cx="47664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4C9AF0-8E7A-0DAF-49CE-E236CC224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051" y="2028037"/>
            <a:ext cx="3621947" cy="36219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/>
        </p:nvSpPr>
        <p:spPr>
          <a:xfrm>
            <a:off x="609600" y="2668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Especificaciones técnicas de equipos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5087537" y="2425087"/>
            <a:ext cx="3322200" cy="272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Computadores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O" dirty="0"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buSzPts val="1400"/>
            </a:pPr>
            <a:endParaRPr lang="es-CO" dirty="0"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buSzPts val="1400"/>
            </a:pPr>
            <a:r>
              <a:rPr lang="es-CO" b="1" dirty="0">
                <a:latin typeface="Calibri"/>
                <a:ea typeface="Calibri"/>
                <a:cs typeface="Calibri"/>
                <a:sym typeface="Calibri"/>
              </a:rPr>
              <a:t>Industrial: </a:t>
            </a:r>
            <a:r>
              <a:rPr lang="es-CO" dirty="0">
                <a:latin typeface="Calibri"/>
                <a:ea typeface="Calibri"/>
                <a:cs typeface="Calibri"/>
                <a:sym typeface="Calibri"/>
              </a:rPr>
              <a:t>Intel(R) Core(TM) i5-3427U CPU @ 1.80GHz   2.29 GHz.</a:t>
            </a:r>
          </a:p>
          <a:p>
            <a:pPr lvl="0" algn="ctr">
              <a:buSzPts val="1400"/>
            </a:pPr>
            <a:r>
              <a:rPr lang="es-CO" dirty="0">
                <a:latin typeface="Calibri"/>
                <a:ea typeface="Calibri"/>
                <a:cs typeface="Calibri"/>
                <a:sym typeface="Calibri"/>
              </a:rPr>
              <a:t>RAM 8.00 GB</a:t>
            </a:r>
          </a:p>
          <a:p>
            <a:pPr lvl="0" algn="ctr">
              <a:buSzPts val="1400"/>
            </a:pPr>
            <a:endParaRPr lang="es-CO" dirty="0"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buSzPts val="1400"/>
            </a:pPr>
            <a:r>
              <a:rPr lang="es-CO" b="1" dirty="0" err="1">
                <a:latin typeface="Calibri"/>
                <a:ea typeface="Calibri"/>
                <a:cs typeface="Calibri"/>
                <a:sym typeface="Calibri"/>
              </a:rPr>
              <a:t>WorkStation</a:t>
            </a:r>
            <a:r>
              <a:rPr lang="es-CO" b="1" dirty="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CO" dirty="0">
                <a:latin typeface="Calibri"/>
                <a:ea typeface="Calibri"/>
                <a:cs typeface="Calibri"/>
                <a:sym typeface="Calibri"/>
              </a:rPr>
              <a:t>GPU RTX 5000 12GB </a:t>
            </a:r>
            <a:r>
              <a:rPr lang="es-CO" dirty="0" err="1">
                <a:latin typeface="Calibri"/>
                <a:ea typeface="Calibri"/>
                <a:cs typeface="Calibri"/>
                <a:sym typeface="Calibri"/>
              </a:rPr>
              <a:t>Nvidia</a:t>
            </a:r>
            <a:endParaRPr lang="es-CO" dirty="0"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buSzPts val="1400"/>
            </a:pPr>
            <a:r>
              <a:rPr lang="es-CO" dirty="0">
                <a:latin typeface="Calibri"/>
                <a:ea typeface="Calibri"/>
                <a:cs typeface="Calibri"/>
                <a:sym typeface="Calibri"/>
              </a:rPr>
              <a:t>Intel(R) Core(TM) i9-7500 CPU @3.4 GHz 3,8GHz</a:t>
            </a:r>
          </a:p>
          <a:p>
            <a:pPr lvl="0" algn="ctr">
              <a:buSzPts val="1400"/>
            </a:pPr>
            <a:r>
              <a:rPr lang="es-CO" dirty="0">
                <a:latin typeface="Calibri"/>
                <a:ea typeface="Calibri"/>
                <a:cs typeface="Calibri"/>
                <a:sym typeface="Calibri"/>
              </a:rPr>
              <a:t>RAM 16,00 GB  </a:t>
            </a:r>
          </a:p>
          <a:p>
            <a:pPr lvl="0" algn="ctr">
              <a:buSzPts val="1400"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4"/>
          <p:cNvCxnSpPr/>
          <p:nvPr/>
        </p:nvCxnSpPr>
        <p:spPr>
          <a:xfrm>
            <a:off x="4543425" y="1733550"/>
            <a:ext cx="0" cy="43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" name="Google Shape;125;p4"/>
          <p:cNvSpPr txBox="1"/>
          <p:nvPr/>
        </p:nvSpPr>
        <p:spPr>
          <a:xfrm>
            <a:off x="640925" y="1822200"/>
            <a:ext cx="3358389" cy="39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Cámara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/>
        </p:nvSpPr>
        <p:spPr>
          <a:xfrm>
            <a:off x="395536" y="33265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 Software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6B172D7-FC7F-245A-E061-26AD0DC59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80" y="1973341"/>
            <a:ext cx="8391039" cy="37647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/>
        </p:nvSpPr>
        <p:spPr>
          <a:xfrm>
            <a:off x="395536" y="33265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Solución: Conceptos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C64B44A-DFD4-F924-6FA0-E521DF197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849110"/>
              </p:ext>
            </p:extLst>
          </p:nvPr>
        </p:nvGraphicFramePr>
        <p:xfrm>
          <a:off x="457200" y="2455508"/>
          <a:ext cx="8229600" cy="1981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673604">
                  <a:extLst>
                    <a:ext uri="{9D8B030D-6E8A-4147-A177-3AD203B41FA5}">
                      <a16:colId xmlns:a16="http://schemas.microsoft.com/office/drawing/2014/main" val="1647542095"/>
                    </a:ext>
                  </a:extLst>
                </a:gridCol>
                <a:gridCol w="2441196">
                  <a:extLst>
                    <a:ext uri="{9D8B030D-6E8A-4147-A177-3AD203B41FA5}">
                      <a16:colId xmlns:a16="http://schemas.microsoft.com/office/drawing/2014/main" val="310930043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6031315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813745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Modelo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Estructura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Claves técnicas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Ventajas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198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/>
                        <a:t>YOLOv8</a:t>
                      </a:r>
                      <a:endParaRPr lang="es-CO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 dirty="0" err="1"/>
                        <a:t>Backbone</a:t>
                      </a:r>
                      <a:r>
                        <a:rPr lang="es-CO" b="1" dirty="0"/>
                        <a:t> → </a:t>
                      </a:r>
                      <a:r>
                        <a:rPr lang="es-CO" b="1" dirty="0" err="1"/>
                        <a:t>Neck</a:t>
                      </a:r>
                      <a:r>
                        <a:rPr lang="es-CO" b="1" dirty="0"/>
                        <a:t> → Head</a:t>
                      </a:r>
                      <a:endParaRPr lang="es-C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Convoluciones (C2f), </a:t>
                      </a:r>
                      <a:r>
                        <a:rPr lang="es-ES" dirty="0" err="1"/>
                        <a:t>Feature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Fusion</a:t>
                      </a:r>
                      <a:r>
                        <a:rPr lang="es-ES" dirty="0"/>
                        <a:t> (FPN/PAN), Detección anclada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Rápido, eficiente en tiempo real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848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 dirty="0"/>
                        <a:t>RF-DETR</a:t>
                      </a:r>
                      <a:endParaRPr lang="es-C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 dirty="0" err="1"/>
                        <a:t>Backbone</a:t>
                      </a:r>
                      <a:r>
                        <a:rPr lang="es-CO" b="1" dirty="0"/>
                        <a:t> (CNN) → </a:t>
                      </a:r>
                      <a:r>
                        <a:rPr lang="es-CO" b="1" dirty="0" err="1"/>
                        <a:t>Transformer</a:t>
                      </a:r>
                      <a:r>
                        <a:rPr lang="es-CO" b="1" dirty="0"/>
                        <a:t> </a:t>
                      </a:r>
                      <a:r>
                        <a:rPr lang="es-CO" b="1" dirty="0" err="1"/>
                        <a:t>Encoder</a:t>
                      </a:r>
                      <a:r>
                        <a:rPr lang="es-CO" b="1" dirty="0"/>
                        <a:t>/</a:t>
                      </a:r>
                      <a:r>
                        <a:rPr lang="es-CO" b="1" dirty="0" err="1"/>
                        <a:t>Decoder</a:t>
                      </a:r>
                      <a:r>
                        <a:rPr lang="es-CO" b="1" dirty="0"/>
                        <a:t> → Head</a:t>
                      </a:r>
                      <a:endParaRPr lang="es-C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Atención, relaciones espaciales, </a:t>
                      </a:r>
                      <a:r>
                        <a:rPr lang="es-ES" dirty="0" err="1"/>
                        <a:t>Query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embeddings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Mayor precisión y contexto global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5205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e7f6e54539_1_0"/>
          <p:cNvSpPr txBox="1"/>
          <p:nvPr/>
        </p:nvSpPr>
        <p:spPr>
          <a:xfrm>
            <a:off x="395536" y="33265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lo menos un algoritmo funcionando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C6425A-E15B-BBB6-E0CC-128EB29C7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799396"/>
            <a:ext cx="2419552" cy="372051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6C0AA2C-7021-2CB0-ED2B-096BA9FCE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844" y="2412143"/>
            <a:ext cx="2745908" cy="274590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6B0AC93-4F4C-445E-5593-9B6F80F083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255"/>
          <a:stretch>
            <a:fillRect/>
          </a:stretch>
        </p:blipFill>
        <p:spPr>
          <a:xfrm>
            <a:off x="2928827" y="2286701"/>
            <a:ext cx="3163017" cy="2996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/>
        </p:nvSpPr>
        <p:spPr>
          <a:xfrm>
            <a:off x="609600" y="2668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de actividades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45E2108-18F5-3A8E-7B1B-27BBA3561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194" y="1885444"/>
            <a:ext cx="6757612" cy="39450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/>
        </p:nvSpPr>
        <p:spPr>
          <a:xfrm>
            <a:off x="609600" y="4270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Resultados, Líneas Futuras</a:t>
            </a:r>
            <a:endParaRPr sz="429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884973" y="1570038"/>
            <a:ext cx="7678854" cy="5435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ES" sz="1600" dirty="0"/>
              <a:t>Para mejorar el sistema, se contemplan las siguientes acciones:</a:t>
            </a:r>
          </a:p>
          <a:p>
            <a:endParaRPr lang="es-E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b="1" dirty="0"/>
              <a:t>Control de calidad de imágenes:</a:t>
            </a:r>
            <a:r>
              <a:rPr lang="es-ES" sz="1600" dirty="0"/>
              <a:t> descartar </a:t>
            </a:r>
            <a:r>
              <a:rPr lang="es-ES" sz="1600" dirty="0" err="1"/>
              <a:t>frames</a:t>
            </a:r>
            <a:r>
              <a:rPr lang="es-ES" sz="1600" dirty="0"/>
              <a:t> borrosos o sin piezas detectables.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b="1" dirty="0"/>
              <a:t>Registro de logs:</a:t>
            </a:r>
            <a:r>
              <a:rPr lang="es-ES" sz="1600" dirty="0"/>
              <a:t> documentar cada imagen capturada, procesada y etiquetada.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b="1" dirty="0"/>
              <a:t>Pruebas con imágenes sin recorte:</a:t>
            </a:r>
            <a:r>
              <a:rPr lang="es-ES" sz="1600" dirty="0"/>
              <a:t> evaluar si el modelo se adapta a distintos encuadres.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b="1" dirty="0"/>
              <a:t>Evaluación en condiciones reales:</a:t>
            </a:r>
            <a:r>
              <a:rPr lang="es-ES" sz="1600" dirty="0"/>
              <a:t> variaciones de iluminación, suciedad o reflejos en la banda.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b="1" dirty="0"/>
              <a:t>Visualización avanzada en la interfaz:</a:t>
            </a:r>
            <a:r>
              <a:rPr lang="es-ES" sz="1600" dirty="0"/>
              <a:t> mostrar el conteo, la confianza del modelo y los resultados en tiempo real.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b="1" dirty="0"/>
              <a:t>Historial de conteos:</a:t>
            </a:r>
            <a:r>
              <a:rPr lang="es-ES" sz="1600" dirty="0"/>
              <a:t> permitir estadísticas por hora, día o turno de producción.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b="1" dirty="0"/>
              <a:t>Alertas automáticas:</a:t>
            </a:r>
            <a:r>
              <a:rPr lang="es-ES" sz="1600" dirty="0"/>
              <a:t> notificar si el sistema no detecta piezas durante un tiempo prolongado.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dirty="0"/>
              <a:t>Finalmente, se busca </a:t>
            </a:r>
            <a:r>
              <a:rPr lang="es-ES" sz="1600" b="1" dirty="0"/>
              <a:t>analizar el comportamiento del modelo en escenarios complejos</a:t>
            </a:r>
            <a:r>
              <a:rPr lang="es-ES" sz="1600" dirty="0"/>
              <a:t>, como el </a:t>
            </a:r>
            <a:r>
              <a:rPr lang="es-ES" sz="1600" b="1" dirty="0"/>
              <a:t>solapamiento de piezas</a:t>
            </a:r>
            <a:r>
              <a:rPr lang="es-ES" sz="1600" dirty="0"/>
              <a:t>, que son situaciones reales observadas en la línea de pintura de Yamaha, reconteo de piezas etc.</a:t>
            </a: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Bibliografía y webgrafía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CF1AC63-A60F-A42C-1BA7-670D33770EAE}"/>
              </a:ext>
            </a:extLst>
          </p:cNvPr>
          <p:cNvSpPr txBox="1"/>
          <p:nvPr/>
        </p:nvSpPr>
        <p:spPr>
          <a:xfrm>
            <a:off x="1220598" y="2801900"/>
            <a:ext cx="58261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“RF-DETR: Object Detection with Transformers (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Roboflow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2024) ” 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https://github.com/roboflow/rf-detr</a:t>
            </a:r>
            <a:endParaRPr lang="en-US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00150" lvl="2" indent="-285750"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400" dirty="0"/>
              <a:t>“YOLOv8: Real-Time Object Detection System” (</a:t>
            </a:r>
            <a:r>
              <a:rPr lang="en-US" sz="1400" dirty="0" err="1"/>
              <a:t>Ultralytics</a:t>
            </a:r>
            <a:r>
              <a:rPr lang="en-US" sz="1400" dirty="0"/>
              <a:t>, 2023)</a:t>
            </a:r>
          </a:p>
          <a:p>
            <a:pPr marL="1200150" lvl="2" indent="-285750"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400" dirty="0"/>
              <a:t> </a:t>
            </a:r>
            <a:r>
              <a:rPr lang="es-ES" sz="1400" dirty="0" err="1"/>
              <a:t>Roboflow</a:t>
            </a:r>
            <a:r>
              <a:rPr lang="es-ES" sz="1400" dirty="0"/>
              <a:t> </a:t>
            </a:r>
            <a:r>
              <a:rPr lang="es-ES" sz="1400" dirty="0" err="1"/>
              <a:t>Annotate</a:t>
            </a:r>
            <a:r>
              <a:rPr lang="es-ES" sz="1400" dirty="0"/>
              <a:t>: Plataforma para creación y gestión de </a:t>
            </a:r>
            <a:r>
              <a:rPr lang="es-ES" sz="1400" dirty="0" err="1"/>
              <a:t>datasets</a:t>
            </a:r>
            <a:r>
              <a:rPr lang="es-ES" sz="1400" dirty="0"/>
              <a:t>” (</a:t>
            </a:r>
            <a:r>
              <a:rPr lang="es-ES" sz="1400" dirty="0" err="1"/>
              <a:t>Roboflow</a:t>
            </a:r>
            <a:r>
              <a:rPr lang="es-ES" sz="1400" dirty="0"/>
              <a:t>, 2024)</a:t>
            </a:r>
          </a:p>
          <a:p>
            <a:pPr marL="1200150" lvl="2" indent="-285750"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s-E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https://docs.google.com/spreadsheets/u/1/d/1fEJsDyySfmsJx8QFo4jhOdUpCtAS4GOd/edit?gid=2130384647#gid=2130384647</a:t>
            </a:r>
            <a:endParaRPr lang="es-E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>
            <a:spLocks noGrp="1"/>
          </p:cNvSpPr>
          <p:nvPr>
            <p:ph type="body" idx="1"/>
          </p:nvPr>
        </p:nvSpPr>
        <p:spPr>
          <a:xfrm>
            <a:off x="2411760" y="3068960"/>
            <a:ext cx="4680520" cy="237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CO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del público?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CO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</Words>
  <Application>Microsoft Office PowerPoint</Application>
  <PresentationFormat>Presentación en pantalla (4:3)</PresentationFormat>
  <Paragraphs>76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Noto Sans Symbols</vt:lpstr>
      <vt:lpstr>Wingdings</vt:lpstr>
      <vt:lpstr>Tema de Office</vt:lpstr>
      <vt:lpstr>YamaLens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Bibliografía y webgrafía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YamaLens</dc:title>
  <dc:creator>Juan González</dc:creator>
  <cp:lastModifiedBy>JUAN JOSE BALVIN TORRES</cp:lastModifiedBy>
  <cp:revision>2</cp:revision>
  <dcterms:modified xsi:type="dcterms:W3CDTF">2025-11-12T02:50:50Z</dcterms:modified>
</cp:coreProperties>
</file>